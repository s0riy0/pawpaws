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ที่มาและภาพรวม" id="{a709e99e-94f2-a155-778d-1e87c2e3c13b}">
          <p14:sldIdLst>
            <p14:sldId id="256"/>
            <p14:sldId id="257"/>
            <p14:sldId id="258"/>
          </p14:sldIdLst>
        </p14:section>
        <p14:section name="เทคโนโลยีและฐานข้อมูล" id="{3864db11-9249-e989-366e-91332934606d}">
          <p14:sldIdLst>
            <p14:sldId id="259"/>
            <p14:sldId id="260"/>
          </p14:sldIdLst>
        </p14:section>
        <p14:section name="สาธิตฝั่งลูกค้า" id="{01b52601-2289-09c7-0c6c-6a1861f3c54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สาธิตฝั่งผู้ดูแลระบบ" id="{b27599b4-bf49-8cfc-716f-358eb1161b07}">
          <p14:sldIdLst>
            <p14:sldId id="269"/>
            <p14:sldId id="270"/>
            <p14:sldId id="271"/>
          </p14:sldIdLst>
        </p14:section>
        <p14:section name="ความปลอดภัยและสรุป" id="{a91422ef-1920-8319-25c2-93d1c7ad70a5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สวัสดีครับอาจารย์ วันนี้ผมจะนำเสนอโปรเจกต์ PawPaws ซึ่งเป็นเว็บไซต์ E-Commerce สำหรับขายและรับเลี้ยงสัตว์เลี้ยง พัฒนาด้วย PHP และ MySQL รันบน XAMPP ครอบคลุมตั้งแต่การสมัครสมาชิก เลือกน้อง ชำระเงิน ติดตามการจัดส่ง แชทกับร้าน ไปจนถึงฝั่งแอดมินที่จัดการข้อมูลและดูรายงานได้ครับ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ที่มาของโปรเจกต์คือ การซื้อขายหรือรับเลี้ยงสัตว์เลี้ยงทุกวันนี้มักทำผ่านโซเชียล ข้อมูลน้องไม่ครบ ไม่อัปเดต และผู้ซื้อไม่รู้ว่าน้องเดินทางถึงไหน ฝั่งร้านเองก็ต้องสรุปยอดขายด้วยมือ วัตถุประสงค์จึงมีสี่ข้อ คือ โปรไฟล์น้องที่ครบและมีสื่ออัปเดต สั่งซื้อและชำระเงินในเว็บเดียว ติดตามการจัดส่งแบบเรียลไทม์ และมีแชทกับรายงานสำหรับแอดมิน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ระบบแบ่งผู้ใช้เป็นสองบทบาท ลูกค้าจะเห็นเมนูหน้าแรก ค้นหา ติดตามน้อง แชท และตะกร้า ส่วนแอดมินจะเห็นเมนูจัดการน้อง เพิ่มน้อง คำสั่งซื้อ แชท และรายงาน ระบบเช็กสิทธิ์ทุกหน้าด้วยฟังก์ชัน require_admin และ require_customer ใน config.php ทำให้ลูกค้าเข้าหน้าแอดมินไม่ได้ และแอดมินสั่งซื้อไม่ได้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สถาปัตยกรรมแบ่งเป็น 3 ชั้น ฝั่งเบราว์เซอร์ใช้ HTML CSS JavaScript มีการใช้ fetch ดึงข้อมูลทุก 3 ถึง 5 วินาทีสำหรับแชทและติดตามการจัดส่ง ชั้นกลางคือ PHP ทุกหน้าจะ require config.php ซึ่งเป็นศูนย์รวมการเชื่อมต่อฐานข้อมูลผ่าน PDO ฟังก์ชันตรวจสิทธิ์ CSRF และการอัปโหลดไฟล์ ชั้นล่างคือ MySQL ใช้ InnoDB เพื่อให้มี Foreign Key และ Transaction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ฐานข้อมูลมี 8 ตาราง ตารางหลักคือ users pets และ orders ความสัมพันธ์สำคัญ เช่น ลูกค้าหนึ่งคนมีได้หลายคำสั่งซื้อ คำสั่งซื้อหนึ่งรายการประกอบด้วยน้องหลายตัวผ่าน order_items ซึ่งใช้ Primary Key คู่ order_id กับ pet_id ส่วน cart_items ก็ใช้ Primary Key คู่ user_id กับ pet_id เพื่อกันใส่ตัวเดิมซ้ำ รหัสผ่านเก็บแบบ bcrypt hash และเก็บราคา ณ วันที่ซื้อไว้ใน order_items เพื่อให้รายงานยอดขายถูกต้องแม้ราคาน้องจะเปลี่ยนภายหลัง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ต่อไปจะสาธิตการใช้งานฝั่งลูกค้าตามเส้นทางจริง 5 ขั้น ตั้งแต่สมัครสมาชิก ค้นหาน้อง ใส่ตะกร้าและชำระเงิน ติดตามการจัดส่ง จนถึงกดยืนยันว่ารับน้องแล้ว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หน้าแรกมีส่วน Hero ที่สุ่มรูปน้องที่ยังว่างเปลี่ยนทุก 3 วินาที ด้านล่างเป็นรายการน้องทั้งหมด กดแท็บเพื่อกรองตามหมวดได้ น้องที่ถูกซื้อแล้วจะถูกเรียงไว้ท้ายสุดและขึ้นป้ายได้บ้านแล้ว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หน้าสมัครสมาชิก ในภาพทดลองกรอกวันเกิดปี 2012 ระบบแจ้งว่าต้องมีอายุ 18 ปีขึ้นไป การตรวจทำสองชั้น ช่องวันเกิดจำกัดค่าสูงสุดไว้ที่ 18 ปีก่อน และ PHP คำนวณอายุซ้ำอีกครั้ง รหัสผ่านถูก hash ด้วย password_hash ก่อนบันทึก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หน้าค้นหา ตัวอย่างในภาพกรองเฉพาะสุนัขที่ยังพร้อมรับเลี้ยงและเรียงราคาจากต่ำไปสูง ฝั่งโค้ดจะต่อเงื่อนไข WHERE ตามช่องที่กรอก แต่ค่าทุกค่าส่งผ่าน placeholder ของ PDO จึงป้องกัน SQL Injection ได้ ส่วนการเรียงลำดับใช้รายการค่าที่อนุญาตไว้เท่านั้น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หน้าโปรไฟล์น้อง ฟังก์ชัน age_text ใน config.php คำนวณอายุด้วย DateTime diff ทำให้อายุอัปเดตเองทุกวันไม่ต้องแก้ข้อมูล วันที่แสดงเป็นปีพุทธศักราชผ่านฟังก์ชัน thai_date ด้านล่างเป็นแกลเลอรีที่แอดมินอัปโหลดรูปหรือวิดีโอตัวจริงของน้องเพิ่มได้เรื่อยๆ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หน้าชำระเงินดึงชื่อ เบอร์ และที่อยู่ของลูกค้ามาเติมให้ เลือกวิธีชำระได้ 4 แบบ ถ้าเลือกพร้อมเพย์ ระบบสร้าง payload ตามมาตรฐาน EMVCo พร้อมคำนวณ CRC16 ใส่ยอดเงินให้อัตโนมัติ แล้ววาด QR ด้วย qrcode.js สแกนด้วยแอปธนาคารได้จริง เมื่อยืนยัน ระบบเปิด Transaction ล็อกแถวน้องด้วย FOR UPDATE สร้างคำสั่งซื้อ เปลี่ยนสถานะน้องเป็นได้บ้านแล้ว และลบออกจากตะกร้าของทุกคน ถ้ามีปัญหาจะ rollback ทั้งหมด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หลังชำระเงิน ระบบพาไปหน้าติดตาม สถานะคำนวณจากเวลาที่ผ่านไปนับจาก paid_at ด้วย TIMESTAMPDIFF ในฐานข้อมูล ครบ 5 วินาทีเป็นกำลังจัดส่ง 10 วินาทีพนักงานกำลังพาไปส่ง และ 15 วินาทีน้องถึงที่หมาย หน้าเว็บใช้ JavaScript เรียก track_api.php ทุก 5 วินาทีเพื่ออัปเดตไทม์ไลน์โดยไม่ต้องรีเฟรช เมื่อถึงขั้นสุดท้ายจะมีกล่องให้ลูกค้าติ๊กและกดยืนยันว่ารับน้องแล้ว สถานะคำสั่งซื้อจะเปลี่ยนเป็น received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ระบบแชท ลูกค้าแต่ละคนมีห้องของตัวเอง เก็บในตาราง messages โดยใช้ customer_id เป็นห้อง และ sender_id เป็นผู้ส่ง ถ้ากดสอบถามจากหน้าน้อง ข้อความแรกจะแนบชื่อน้องไปด้วย หน้าแชทเรียก chat_api.php ทุก 3 วินาทีเพื่อโหลดเฉพาะข้อความใหม่ ส่วนเมนูด้านบนตรวจข้อความที่ยังไม่อ่านทุก 4 วินาที มีเสียงแจ้งเตือนและตัวเลขบนเมนู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ฝั่งแอดมิน เข้าสู่ระบบด้วย soriya-admin แล้วจะมาที่แดชบอร์ด การ์ดด้านบนสรุปตัวเลขด้วย subquery ในคำสั่งเดียว ด้านล่างเป็นตารางน้องทุกตัว มีปุ่มแก้ไขและลบ ตัวเลขในภาพมาจากข้อมูลตัวอย่าง 13 คำสั่งซื้อ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การจัดการข้อมูลครบทั้งเพิ่ม แก้ไข ลบ ฟอร์มเพิ่มและแก้ไขใช้ไฟล์ pet_form.php ร่วมกัน ข้อมูลผ่านฟังก์ชัน pet_input ตรวจความถูกต้องก่อนบันทึก การอัปโหลดตรวจชนิดไฟล์จริงด้วย finfo ไม่เชื่อแค่นามสกุล และสุ่มชื่อไฟล์ใหม่เพื่อกันไฟล์อันตราย ส่วนการลบ ถ้าน้องเคยถูกขาย ระบบจะไม่อนุญาตให้ลบ เพราะข้อมูลนั้นถูกใช้ในรายงานยอดขาย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หน้ารายงานมี 4 รายงาน เลือกช่วงวันที่และเลือกดูทีละรายงานหรือทั้งหมดได้ กดปุ่มพิมพ์รายงานแล้ว CSS จะซ่อนเมนูและฟอร์มออก รายงานที่ 1 ใช้ LEFT JOIN จากตาราง categories เพื่อให้หมวดที่ยังขายไม่ได้แสดงเป็นศูนย์ รายงานที่ 2 จัดกลุ่มด้วย DATE_FORMAT ตามเดือน รายงานที่ 3 จัดอันดับลูกค้า 10 อันดับ และรายงานที่ 4 สรุปจำนวนคงเหลือ ราคาเฉลี่ย ต่ำสุด สูงสุด ของแต่ละหมวด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ด้านความปลอดภัย ระบบป้องกัน SQL Injection ด้วย Prepared Statement ทุกจุด ป้องกัน XSS ด้วยฟังก์ชัน e ที่ครอบ htmlspecialchars ป้องกัน CSRF ด้วย token ในทุกฟอร์ม รหัสผ่านเก็บแบบ bcrypt และเปลี่ยน session id หลังล็อกอินกัน session fixation ไฟล์อัปโหลดตรวจชนิดจริง สุ่มชื่อใหม่ และโฟลเดอร์ uploads มี .htaccess ปิดการรันสคริปต์ สุดท้ายทุกหน้าตรวจสิทธิ์ตาม role และการสั่งซื้อใช้ Transaction กันน้องตัวเดียวถูกขายสองครั้ง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สไลด์นี้สรุปว่าทุกฟังก์ชันที่ได้รับมอบหมายมีอยู่ในระบบและทำงานได้ พร้อมชื่อไฟล์ที่รับผิดชอบ อาจารย์สามารถเปิดดูโค้ดตามไฟล์ได้ทันที ส่วนเอกสารฐานข้อมูลอยู่ในโฟลเดอร์ 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เวอร์ชันนี้ออกแบบให้สาธิตได้ครบในเครื่อง การจัดส่งเป็นการจำลองด้วยเวลา และการชำระเงินบัตรเป็นการจำลอง แนวทางต่อไปคือ นำขึ้นเซิร์ฟเวอร์จริงอย่าง Render เชื่อม Payment Gateway ใช้ข้อมูลขนส่งจริง และเปลี่ยนแชทจากการดึงข้อมูลทุก 3 วินาทีเป็น WebSocket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ขอบคุณครับ ถ้าอาจารย์มีคำถามยินดีตอบครับ ด้านขวาเป็นบัญชีทดสอบสำหรับลองใช้งานทั้งฝั่งแอดมินและลูกค้า รายละเอียดการติดตั้งอยู่ในคู่มือไฟล์ Word ที่แนบมาครับ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902" y="634959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7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PawPaws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_AL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902" y="634959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7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PawPaws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902" y="634959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7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PawPaws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AL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902" y="634959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7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PawPaws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902" y="634959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3A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PawPaws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B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1587398"/>
            <a:ext cx="10566806" cy="27980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904695"/>
            <a:ext cx="10566806" cy="825703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2902" y="1270102"/>
            <a:ext cx="3746297" cy="355702"/>
          </a:xfrm>
          <a:prstGeom prst="roundRect">
            <a:avLst>
              <a:gd name="adj" fmla="val 48843"/>
            </a:avLst>
          </a:prstGeom>
          <a:solidFill>
            <a:srgbClr val="FFFFFF"/>
          </a:solidFill>
          <a:ln w="9525">
            <a:solidFill>
              <a:srgbClr val="F0D3C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52805" y="1270102"/>
            <a:ext cx="35561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accent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🐾 โปรเจกต์รายวิชา · เว็บแอปพลิเคชัน</a:t>
            </a:r>
            <a:endParaRPr lang="th-TH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841602"/>
            <a:ext cx="4826203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6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PawPaws</a:t>
            </a:r>
            <a:endParaRPr lang="th-TH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857500"/>
            <a:ext cx="4826203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th-TH" altLang="en-US" sz="2600" b="1" dirty="0">
                <a:solidFill>
                  <a:schemeClr val="accent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 E-Commerce</a:t>
            </a:r>
            <a:endParaRPr lang="th-TH" sz="2600" dirty="0"/>
          </a:p>
          <a:p>
            <a:pPr indent="0" marL="0">
              <a:lnSpc>
                <a:spcPct val="110000"/>
              </a:lnSpc>
              <a:buNone/>
            </a:pPr>
            <a:r>
              <a:rPr lang="th-TH" altLang="en-US" sz="2600" b="1" dirty="0">
                <a:solidFill>
                  <a:schemeClr val="accent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ขายสัตว์เลี้ยงออนไลน์</a:t>
            </a:r>
            <a:endParaRPr lang="th-TH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968496"/>
            <a:ext cx="482620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2"/>
                </a:solidFill>
              </a:rPr>
              <a:t>PHP + MySQL · รับเลี้ยง ชำระเงิน ติดตามการจัดส่ง แชท และรายงาน</a:t>
            </a:r>
            <a:endParaRPr lang="th-TH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4826203"/>
            <a:ext cx="4826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ผู้จัดทำ: [ชื่อ-นามสกุล] · รหัสนักศึกษา [__________]</a:t>
            </a:r>
            <a:endParaRPr lang="th-TH" sz="1400" dirty="0"/>
          </a:p>
          <a:p>
            <a:pPr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เสนอ: [ชื่ออาจารย์] · รายวิชา [__________]</a:t>
            </a:r>
            <a:endParaRPr lang="th-TH" sz="1400" dirty="0"/>
          </a:p>
        </p:txBody>
      </p:sp>
      <p:sp>
        <p:nvSpPr>
          <p:cNvPr id="9" name="frame 01_home.jpg"/>
          <p:cNvSpPr/>
          <p:nvPr/>
        </p:nvSpPr>
        <p:spPr>
          <a:xfrm>
            <a:off x="5917997" y="1777594"/>
            <a:ext cx="5460797" cy="3492094"/>
          </a:xfrm>
          <a:prstGeom prst="roundRect">
            <a:avLst>
              <a:gd name="adj" fmla="val 3142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10" name="01_home.jpg" descr="หน้าแรกของเว็บไซต์ PawPaw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19495" y="1880006"/>
            <a:ext cx="5257800" cy="32890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ที่มาของโปรเจกต์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ทำไมต้องมีเว็บรับเลี้ยงสัตว์เลี้ยงออนไลน์</a:t>
            </a:r>
            <a:endParaRPr lang="th-TH" sz="2800" dirty="0"/>
          </a:p>
        </p:txBody>
      </p:sp>
      <p:sp>
        <p:nvSpPr>
          <p:cNvPr id="5" name="Shape 2"/>
          <p:cNvSpPr/>
          <p:nvPr/>
        </p:nvSpPr>
        <p:spPr>
          <a:xfrm>
            <a:off x="812902" y="1904695"/>
            <a:ext cx="5156302" cy="2794406"/>
          </a:xfrm>
          <a:prstGeom prst="roundRect">
            <a:avLst>
              <a:gd name="adj" fmla="val 4581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7397" y="2190902"/>
            <a:ext cx="45463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ปัญหาที่พบ</a:t>
            </a:r>
            <a:endParaRPr lang="th-TH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17397" y="2698394"/>
            <a:ext cx="4546397" cy="184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tx2"/>
                </a:solidFill>
              </a:rPr>
              <a:t>ผู้ซื้อไม่เห็นข้อมูลน้องที่ครบและเป็นปัจจุบัน</a:t>
            </a:r>
            <a:endParaRPr lang="th-TH" sz="16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tx2"/>
                </a:solidFill>
              </a:rPr>
              <a:t>ติดต่อร้านผ่านหลายช่องทาง ข้อมูลกระจัดกระจาย</a:t>
            </a:r>
            <a:endParaRPr lang="th-TH" sz="16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tx2"/>
                </a:solidFill>
              </a:rPr>
              <a:t>ไม่รู้ว่าน้องเดินทางถึงไหนแล้ว</a:t>
            </a:r>
            <a:endParaRPr lang="th-TH" sz="16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tx2"/>
                </a:solidFill>
              </a:rPr>
              <a:t>ร้านจัดการสต็อกและสรุปยอดขายด้วยมือ</a:t>
            </a:r>
            <a:endParaRPr lang="th-TH" sz="1600" dirty="0"/>
          </a:p>
        </p:txBody>
      </p:sp>
      <p:sp>
        <p:nvSpPr>
          <p:cNvPr id="8" name="Shape 5"/>
          <p:cNvSpPr/>
          <p:nvPr/>
        </p:nvSpPr>
        <p:spPr>
          <a:xfrm>
            <a:off x="6223406" y="1904695"/>
            <a:ext cx="5156302" cy="2794406"/>
          </a:xfrm>
          <a:prstGeom prst="roundRect">
            <a:avLst>
              <a:gd name="adj" fmla="val 4581"/>
            </a:avLst>
          </a:prstGeom>
          <a:solidFill>
            <a:srgbClr val="231F1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27902" y="2190902"/>
            <a:ext cx="45463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accent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วัตถุประสงค์</a:t>
            </a:r>
            <a:endParaRPr lang="th-TH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27902" y="2698394"/>
            <a:ext cx="4546397" cy="184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bg2"/>
                </a:solidFill>
              </a:rPr>
              <a:t>มีโปรไฟล์น้องพร้อมรูป/วิดีโออัปเดตตัวจริง</a:t>
            </a:r>
            <a:endParaRPr lang="th-TH" sz="16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bg2"/>
                </a:solidFill>
              </a:rPr>
              <a:t>สั่งซื้อและชำระเงินได้ในเว็บเดียว</a:t>
            </a:r>
            <a:endParaRPr lang="th-TH" sz="16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bg2"/>
                </a:solidFill>
              </a:rPr>
              <a:t>ติดตามสถานะการจัดส่งแบบเรียลไทม์</a:t>
            </a:r>
            <a:endParaRPr lang="th-TH" sz="16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600" dirty="0">
                <a:solidFill>
                  <a:schemeClr val="bg2"/>
                </a:solidFill>
              </a:rPr>
              <a:t>แชทกับร้าน และให้แอดมินดูรายงานได้ทันที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ภาพรวมระบบ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ผู้ใช้ 2 บทบาท ทำงานคนละหน้าที่</a:t>
            </a:r>
            <a:endParaRPr lang="th-TH" sz="2800" dirty="0"/>
          </a:p>
        </p:txBody>
      </p:sp>
      <p:sp>
        <p:nvSpPr>
          <p:cNvPr id="5" name="Shape 2"/>
          <p:cNvSpPr/>
          <p:nvPr/>
        </p:nvSpPr>
        <p:spPr>
          <a:xfrm>
            <a:off x="812902" y="1904695"/>
            <a:ext cx="5156302" cy="3301898"/>
          </a:xfrm>
          <a:prstGeom prst="roundRect">
            <a:avLst>
              <a:gd name="adj" fmla="val 3877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2171700"/>
            <a:ext cx="304495" cy="304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11503" y="2146097"/>
            <a:ext cx="4190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 (Customer)</a:t>
            </a:r>
            <a:endParaRPr lang="th-TH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091794" y="2698394"/>
            <a:ext cx="4597603" cy="234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สมัครสมาชิก (อายุ 18 ปีขึ้นไป) / เข้าสู่ระบบ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ดูน้องตามหมวด และค้นหาแบบมีตัวกรอง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ดูโปรไฟล์ อายุคำนวณอัตโนมัติ รูป/วิดีโอตัวจริง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ใส่ตะกร้า ชำระเงิน 4 วิธี (มี QR พร้อมเพย์)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ติดตามการจัดส่ง และกดยืนยันรับน้อง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แชทสอบถามร้าน</a:t>
            </a:r>
            <a:endParaRPr lang="th-TH" sz="1500" dirty="0"/>
          </a:p>
        </p:txBody>
      </p:sp>
      <p:sp>
        <p:nvSpPr>
          <p:cNvPr id="9" name="Shape 5"/>
          <p:cNvSpPr/>
          <p:nvPr/>
        </p:nvSpPr>
        <p:spPr>
          <a:xfrm>
            <a:off x="6223406" y="1904695"/>
            <a:ext cx="5156302" cy="3301898"/>
          </a:xfrm>
          <a:prstGeom prst="roundRect">
            <a:avLst>
              <a:gd name="adj" fmla="val 3877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98" y="2171700"/>
            <a:ext cx="304495" cy="304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21094" y="2146097"/>
            <a:ext cx="4190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ผู้ดูแลระบบ (Admin)</a:t>
            </a:r>
            <a:endParaRPr lang="th-TH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6502298" y="2698394"/>
            <a:ext cx="4597603" cy="234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แดชบอร์ดสรุปจำนวนน้อง คำสั่งซื้อ ยอดขาย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เพิ่ม / แก้ไข / ลบ ข้อมูลน้อง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อัปเดตรูปภาพและวิดีโอตัวจริง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ดูคำสั่งซื้อทั้งหมดและสถานะจัดส่ง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ตอบแชทลูกค้า (แจ้งเตือนข้อความใหม่)</a:t>
            </a:r>
            <a:endParaRPr lang="th-TH" sz="15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chemeClr val="tx2"/>
                </a:solidFill>
              </a:rPr>
              <a:t>รายงาน 4 รายงาน พร้อมพิมพ์</a:t>
            </a:r>
            <a:endParaRPr lang="th-TH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เทคโนโลยีและสถาปัตยกรรม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ระบบทำงานแบบ 3 ชั้น บน XAMPP</a:t>
            </a:r>
            <a:endParaRPr lang="th-TH" sz="2800" dirty="0"/>
          </a:p>
        </p:txBody>
      </p:sp>
      <p:sp>
        <p:nvSpPr>
          <p:cNvPr id="5" name="Shape 2"/>
          <p:cNvSpPr/>
          <p:nvPr/>
        </p:nvSpPr>
        <p:spPr>
          <a:xfrm>
            <a:off x="812902" y="1904695"/>
            <a:ext cx="3047695" cy="2667305"/>
          </a:xfrm>
          <a:prstGeom prst="roundRect">
            <a:avLst>
              <a:gd name="adj" fmla="val 4799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133295"/>
            <a:ext cx="304495" cy="304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1502" y="2540203"/>
            <a:ext cx="26032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เบราว์เซอร์</a:t>
            </a:r>
            <a:endParaRPr lang="th-TH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041502" y="2952598"/>
            <a:ext cx="2603297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HTML · CSS (Glass UI, Dark/Light mode) · JavaScript fetch() ดึงสถานะจัดส่งและแชทอัตโนมัติ · qrcode.js สร้าง QR พร้อมเพย์</a:t>
            </a:r>
            <a:endParaRPr lang="th-TH" sz="1300" dirty="0"/>
          </a:p>
        </p:txBody>
      </p:sp>
      <p:pic>
        <p:nvPicPr>
          <p:cNvPr id="9" name="Image 1" descr="ส่งต่อไปยังชั้นถัดไ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94" y="3111703"/>
            <a:ext cx="304495" cy="3044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0" y="1904695"/>
            <a:ext cx="3047695" cy="2667305"/>
          </a:xfrm>
          <a:prstGeom prst="roundRect">
            <a:avLst>
              <a:gd name="adj" fmla="val 4799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33295"/>
            <a:ext cx="304495" cy="30449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800600" y="2540203"/>
            <a:ext cx="26032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PHP 8 (Apache)</a:t>
            </a:r>
            <a:endParaRPr lang="th-TH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4800600" y="2952598"/>
            <a:ext cx="2603297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24 ไฟล์หน้าเว็บ + API (track_api, chat_api) · config.php รวมฟังก์ชันกลาง: เชื่อมฐานข้อมูล สิทธิ์ CSRF อัปโหลดไฟล์</a:t>
            </a:r>
            <a:endParaRPr lang="th-TH" sz="1300" dirty="0"/>
          </a:p>
        </p:txBody>
      </p:sp>
      <p:pic>
        <p:nvPicPr>
          <p:cNvPr id="14" name="Image 3" descr="ส่งต่อไปยังชั้นถัดไป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606" y="3111703"/>
            <a:ext cx="304495" cy="30449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331098" y="1904695"/>
            <a:ext cx="3047695" cy="2667305"/>
          </a:xfrm>
          <a:prstGeom prst="roundRect">
            <a:avLst>
              <a:gd name="adj" fmla="val 4799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698" y="2133295"/>
            <a:ext cx="304495" cy="30449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559698" y="2540203"/>
            <a:ext cx="26032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MySQL (InnoDB)</a:t>
            </a:r>
            <a:endParaRPr lang="th-TH" sz="1800" dirty="0"/>
          </a:p>
        </p:txBody>
      </p:sp>
      <p:sp>
        <p:nvSpPr>
          <p:cNvPr id="18" name="Text 10"/>
          <p:cNvSpPr txBox="1"/>
          <p:nvPr/>
        </p:nvSpPr>
        <p:spPr>
          <a:xfrm>
            <a:off x="8559698" y="2952598"/>
            <a:ext cx="2603297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ฐานข้อมูล pawpaws 8 ตาราง · utf8mb4 รองรับภาษาไทย · Foreign Key และ Transaction</a:t>
            </a:r>
            <a:endParaRPr lang="th-TH" sz="1300" dirty="0"/>
          </a:p>
        </p:txBody>
      </p:sp>
      <p:sp>
        <p:nvSpPr>
          <p:cNvPr id="19" name="Shape 11"/>
          <p:cNvSpPr/>
          <p:nvPr/>
        </p:nvSpPr>
        <p:spPr>
          <a:xfrm>
            <a:off x="812902" y="4889297"/>
            <a:ext cx="2361895" cy="355702"/>
          </a:xfrm>
          <a:prstGeom prst="roundRect">
            <a:avLst>
              <a:gd name="adj" fmla="val 48843"/>
            </a:avLst>
          </a:prstGeom>
          <a:solidFill>
            <a:srgbClr val="231F1E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812902" y="4889297"/>
            <a:ext cx="2361895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chemeClr val="bg1"/>
                </a:solidFill>
              </a:rPr>
              <a:t>PDO + Prepared Statement</a:t>
            </a:r>
            <a:endParaRPr lang="th-TH" sz="1300" dirty="0"/>
          </a:p>
        </p:txBody>
      </p:sp>
      <p:sp>
        <p:nvSpPr>
          <p:cNvPr id="21" name="Shape 13"/>
          <p:cNvSpPr/>
          <p:nvPr/>
        </p:nvSpPr>
        <p:spPr>
          <a:xfrm>
            <a:off x="3276295" y="4889297"/>
            <a:ext cx="959206" cy="355702"/>
          </a:xfrm>
          <a:prstGeom prst="roundRect">
            <a:avLst>
              <a:gd name="adj" fmla="val 48843"/>
            </a:avLst>
          </a:prstGeom>
          <a:solidFill>
            <a:srgbClr val="231F1E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3276295" y="4889297"/>
            <a:ext cx="959206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chemeClr val="bg1"/>
                </a:solidFill>
              </a:rPr>
              <a:t>Session</a:t>
            </a:r>
            <a:endParaRPr lang="th-TH" sz="1300" dirty="0"/>
          </a:p>
        </p:txBody>
      </p:sp>
      <p:sp>
        <p:nvSpPr>
          <p:cNvPr id="23" name="Shape 15"/>
          <p:cNvSpPr/>
          <p:nvPr/>
        </p:nvSpPr>
        <p:spPr>
          <a:xfrm>
            <a:off x="4336999" y="4889297"/>
            <a:ext cx="2279599" cy="355702"/>
          </a:xfrm>
          <a:prstGeom prst="roundRect">
            <a:avLst>
              <a:gd name="adj" fmla="val 48843"/>
            </a:avLst>
          </a:prstGeom>
          <a:solidFill>
            <a:srgbClr val="231F1E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336999" y="4889297"/>
            <a:ext cx="2279599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chemeClr val="bg1"/>
                </a:solidFill>
              </a:rPr>
              <a:t>AJAX Polling 3–5 วินาที</a:t>
            </a:r>
            <a:endParaRPr lang="th-TH" sz="1300" dirty="0"/>
          </a:p>
        </p:txBody>
      </p:sp>
      <p:sp>
        <p:nvSpPr>
          <p:cNvPr id="25" name="Shape 17"/>
          <p:cNvSpPr/>
          <p:nvPr/>
        </p:nvSpPr>
        <p:spPr>
          <a:xfrm>
            <a:off x="6718097" y="4889297"/>
            <a:ext cx="1206094" cy="355702"/>
          </a:xfrm>
          <a:prstGeom prst="roundRect">
            <a:avLst>
              <a:gd name="adj" fmla="val 48843"/>
            </a:avLst>
          </a:prstGeom>
          <a:solidFill>
            <a:srgbClr val="231F1E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718097" y="4889297"/>
            <a:ext cx="12060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chemeClr val="bg1"/>
                </a:solidFill>
              </a:rPr>
              <a:t>phpMyAdmin</a:t>
            </a:r>
            <a:endParaRPr lang="th-TH" sz="1300" dirty="0"/>
          </a:p>
        </p:txBody>
      </p:sp>
      <p:sp>
        <p:nvSpPr>
          <p:cNvPr id="27" name="Shape 19"/>
          <p:cNvSpPr/>
          <p:nvPr/>
        </p:nvSpPr>
        <p:spPr>
          <a:xfrm>
            <a:off x="8026603" y="4889297"/>
            <a:ext cx="1371600" cy="355702"/>
          </a:xfrm>
          <a:prstGeom prst="roundRect">
            <a:avLst>
              <a:gd name="adj" fmla="val 48843"/>
            </a:avLst>
          </a:prstGeom>
          <a:solidFill>
            <a:srgbClr val="231F1E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8026603" y="4889297"/>
            <a:ext cx="1371600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chemeClr val="bg1"/>
                </a:solidFill>
              </a:rPr>
              <a:t>Git / GitHub</a:t>
            </a:r>
            <a:endParaRPr lang="th-TH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ฐานข้อมูล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ER Diagram 8 ตาราง</a:t>
            </a:r>
            <a:endParaRPr lang="th-TH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904695"/>
          <a:ext cx="3556102" cy="914400"/>
        </p:xfrm>
        <a:graphic>
          <a:graphicData uri="http://schemas.openxmlformats.org/drawingml/2006/table">
            <a:tbl>
              <a:tblPr/>
              <a:tblGrid>
                <a:gridCol w="1397203"/>
                <a:gridCol w="2158898"/>
              </a:tblGrid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ตาราง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เก็บข้อมูล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users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สมาชิก / แอดมิน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categories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ประเภทสัตว์ (6 หมวด)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pets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โปรไฟล์น้อง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pet_media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รูป/วิดีโออัปเดต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cart_items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ตะกร้าสินค้า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orders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คำสั่งซื้อ + จัดส่ง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order_items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รายการในคำสั่งซื้อ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messages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แชทลูกค้า–แอดมิน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673498" y="812902"/>
            <a:ext cx="6705295" cy="5232197"/>
          </a:xfrm>
          <a:prstGeom prst="roundRect">
            <a:avLst>
              <a:gd name="adj" fmla="val 2447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pic>
        <p:nvPicPr>
          <p:cNvPr id="7" name="Image 0" descr="ER Diagram ของฐานข้อมูล PawPaws แสดง 8 ตารางและความสัมพันธ์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940003"/>
            <a:ext cx="6452006" cy="49779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1587398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4"/>
                </a:solidFill>
              </a:rPr>
              <a:t>สาธิตการใช้งาน · ฝั่งลูกค้า</a:t>
            </a:r>
            <a:endParaRPr lang="th-TH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1904695"/>
            <a:ext cx="10566806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4400" b="1" dirty="0">
                <a:solidFill>
                  <a:schemeClr val="bg1"/>
                </a:solidFill>
              </a:rPr>
              <a:t>เส้นทางของลูกค้า 1 คน</a:t>
            </a:r>
            <a:endParaRPr lang="th-TH" sz="4400" dirty="0"/>
          </a:p>
        </p:txBody>
      </p:sp>
      <p:sp>
        <p:nvSpPr>
          <p:cNvPr id="5" name="Shape 2"/>
          <p:cNvSpPr/>
          <p:nvPr/>
        </p:nvSpPr>
        <p:spPr>
          <a:xfrm>
            <a:off x="812902" y="3301898"/>
            <a:ext cx="1828800" cy="1460297"/>
          </a:xfrm>
          <a:prstGeom prst="roundRect">
            <a:avLst>
              <a:gd name="adj" fmla="val 8766"/>
            </a:avLst>
          </a:prstGeom>
          <a:solidFill>
            <a:srgbClr val="3A333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90295" y="3461004"/>
            <a:ext cx="63459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chemeClr val="accent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th-TH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4000500"/>
            <a:ext cx="1473098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bg2"/>
                </a:solidFill>
              </a:rPr>
              <a:t>สมัคร / เข้าสู่ระบบ</a:t>
            </a:r>
            <a:endParaRPr lang="th-TH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597" y="3937406"/>
            <a:ext cx="202997" cy="20299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97403" y="3301898"/>
            <a:ext cx="1828800" cy="1460297"/>
          </a:xfrm>
          <a:prstGeom prst="roundRect">
            <a:avLst>
              <a:gd name="adj" fmla="val 8766"/>
            </a:avLst>
          </a:prstGeom>
          <a:solidFill>
            <a:srgbClr val="3A333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174797" y="3461004"/>
            <a:ext cx="63459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chemeClr val="accent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th-TH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174797" y="4000500"/>
            <a:ext cx="1473098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bg2"/>
                </a:solidFill>
              </a:rPr>
              <a:t>ค้นหาและดูโปรไฟล์น้อง</a:t>
            </a:r>
            <a:endParaRPr lang="th-TH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098" y="3937406"/>
            <a:ext cx="202997" cy="20299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81905" y="3301898"/>
            <a:ext cx="1828800" cy="1460297"/>
          </a:xfrm>
          <a:prstGeom prst="roundRect">
            <a:avLst>
              <a:gd name="adj" fmla="val 8766"/>
            </a:avLst>
          </a:prstGeom>
          <a:solidFill>
            <a:srgbClr val="3A3331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359298" y="3461004"/>
            <a:ext cx="63459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chemeClr val="accent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th-TH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5359298" y="4000500"/>
            <a:ext cx="1473098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bg2"/>
                </a:solidFill>
              </a:rPr>
              <a:t>ใส่ตะกร้า และชำระเงิน</a:t>
            </a:r>
            <a:endParaRPr lang="th-TH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937406"/>
            <a:ext cx="202997" cy="20299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66406" y="3301898"/>
            <a:ext cx="1828800" cy="1460297"/>
          </a:xfrm>
          <a:prstGeom prst="roundRect">
            <a:avLst>
              <a:gd name="adj" fmla="val 8766"/>
            </a:avLst>
          </a:prstGeom>
          <a:solidFill>
            <a:srgbClr val="3A3331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543800" y="3461004"/>
            <a:ext cx="63459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chemeClr val="accent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th-TH" sz="3000" dirty="0"/>
          </a:p>
        </p:txBody>
      </p:sp>
      <p:sp>
        <p:nvSpPr>
          <p:cNvPr id="19" name="Text 13"/>
          <p:cNvSpPr txBox="1"/>
          <p:nvPr/>
        </p:nvSpPr>
        <p:spPr>
          <a:xfrm>
            <a:off x="7543800" y="4000500"/>
            <a:ext cx="1473098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bg2"/>
                </a:solidFill>
              </a:rPr>
              <a:t>ติดตามการจัดส่ง</a:t>
            </a:r>
            <a:endParaRPr lang="th-TH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102" y="3937406"/>
            <a:ext cx="202997" cy="202997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549994" y="3301898"/>
            <a:ext cx="1828800" cy="1460297"/>
          </a:xfrm>
          <a:prstGeom prst="roundRect">
            <a:avLst>
              <a:gd name="adj" fmla="val 8766"/>
            </a:avLst>
          </a:prstGeom>
          <a:solidFill>
            <a:srgbClr val="E8592A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9728302" y="3461004"/>
            <a:ext cx="63459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th-TH" sz="3000" dirty="0"/>
          </a:p>
        </p:txBody>
      </p:sp>
      <p:sp>
        <p:nvSpPr>
          <p:cNvPr id="23" name="Text 16"/>
          <p:cNvSpPr txBox="1"/>
          <p:nvPr/>
        </p:nvSpPr>
        <p:spPr>
          <a:xfrm>
            <a:off x="9728302" y="4000500"/>
            <a:ext cx="1473098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ยืนยันรับน้อง</a:t>
            </a:r>
            <a:endParaRPr lang="th-TH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12902" y="5080406"/>
            <a:ext cx="10566806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BFB3AD"/>
                </a:solidFill>
              </a:rPr>
              <a:t>ตัวอย่างใช้บัญชีลูกค้า Nutchapol · แชทกับร้านได้ทุกขั้นตอน</a:t>
            </a:r>
            <a:endParaRPr lang="th-TH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หน้าแรก · index.php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เลือกดูน้องตามหมวดได้ทันที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304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สไลด์รูปน้องที่ยังหาบ้าน สุ่มเปลี่ยนทุก 3 วินาที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แท็บกรอง 6 หมวด: แมว สุนัข กระต่าย Exotic นก สัตว์ฟันแทะ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การ์ดแสดงเพศ สายพันธุ์ อายุ ราคา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น้องที่ขายแล้วขึ้นป้าย “ได้บ้านแล้ว 🏡”</a:t>
            </a:r>
            <a:endParaRPr lang="th-TH" sz="1400" dirty="0"/>
          </a:p>
        </p:txBody>
      </p:sp>
      <p:sp>
        <p:nvSpPr>
          <p:cNvPr id="6" name="frame 02_home_pets.jpg"/>
          <p:cNvSpPr/>
          <p:nvPr/>
        </p:nvSpPr>
        <p:spPr>
          <a:xfrm>
            <a:off x="4673498" y="1073506"/>
            <a:ext cx="6705295" cy="4718304"/>
          </a:xfrm>
          <a:prstGeom prst="roundRect">
            <a:avLst>
              <a:gd name="adj" fmla="val 2326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02_home_pets.jpg" descr="หน้าแรก ส่วนรายการน้องที่กำลังหาบ้าน พร้อมแท็บหมวดหมู่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175004"/>
            <a:ext cx="6502298" cy="45153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สมัครสมาชิก · register.php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สมัครได้เฉพาะผู้มีอายุ 18 ปีขึ้นไป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304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ตรวจอายุจากวันเกิดทั้งฝั่งฟอร์มและฝั่งเซิร์ฟเวอร์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ตรวจรูปแบบชื่อผู้ใช้ อีเมล เบอร์โทร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ห้ามชื่อผู้ใช้หรืออีเมลซ้ำ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รหัสผ่าน ≥ 6 ตัว เก็บแบบ bcrypt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เข้าสู่ระบบด้วยชื่อผู้ใช้หรืออีเมล</a:t>
            </a:r>
            <a:endParaRPr lang="th-TH" sz="1400" dirty="0"/>
          </a:p>
        </p:txBody>
      </p:sp>
      <p:sp>
        <p:nvSpPr>
          <p:cNvPr id="6" name="frame 05_register_age_error.jpg"/>
          <p:cNvSpPr/>
          <p:nvPr/>
        </p:nvSpPr>
        <p:spPr>
          <a:xfrm>
            <a:off x="4673498" y="1295705"/>
            <a:ext cx="6705295" cy="4267505"/>
          </a:xfrm>
          <a:prstGeom prst="roundRect">
            <a:avLst>
              <a:gd name="adj" fmla="val 2571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05_register_age_error.jpg" descr="ฟอร์มสมัครสมาชิกแสดงข้อความ ต้องมีอายุ 18 ปีขึ้นไปจึงจะสมัครสมาชิกได้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397203"/>
            <a:ext cx="6502298" cy="40635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ค้นหาข้อมูล · search.php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ค้นหาแบบมีตัวกรอง 6 แบบ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304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คำค้น: ชื่อ สายพันธุ์ รายละเอียด หมวด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ประเภท · เพศ · สถานะ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ช่วงราคาต่ำสุด–สูงสุด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เรียงตาม: ล่าสุด ราคา อายุน้อยสุด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สร้าง SQL แบบไดนามิก แต่ส่งค่าผ่าน Prepared Statement</a:t>
            </a:r>
            <a:endParaRPr lang="th-TH" sz="1400" dirty="0"/>
          </a:p>
        </p:txBody>
      </p:sp>
      <p:sp>
        <p:nvSpPr>
          <p:cNvPr id="6" name="frame 07_search.jpg"/>
          <p:cNvSpPr/>
          <p:nvPr/>
        </p:nvSpPr>
        <p:spPr>
          <a:xfrm>
            <a:off x="4673498" y="1295705"/>
            <a:ext cx="6705295" cy="4267505"/>
          </a:xfrm>
          <a:prstGeom prst="roundRect">
            <a:avLst>
              <a:gd name="adj" fmla="val 2571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07_search.jpg" descr="หน้าค้นหาน้อง กรองประเภทสุนัข สถานะพร้อมรับเลี้ยง เรียงราคาต่ำไปสูง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397203"/>
            <a:ext cx="6502298" cy="40635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โปรไฟล์น้อง · pet.php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ข้อมูลครบ อายุคำนวณให้อัตโนมัติ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304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อายุเป็น ปี / เดือน / วัน จากวันเกิด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แสดงวันเกิดครั้งถัดไป (ปี พ.ศ.)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แกลเลอรีรูป/วิดีโอตัวจริงที่แอดมินอัปเดต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ปุ่ม “รับเลี้ยงน้อง” ใส่ตะกร้า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ปุ่ม “สอบถามเกี่ยวกับน้อง” เปิดแชท</a:t>
            </a:r>
            <a:endParaRPr lang="th-TH" sz="1400" dirty="0"/>
          </a:p>
        </p:txBody>
      </p:sp>
      <p:sp>
        <p:nvSpPr>
          <p:cNvPr id="6" name="frame 08_pet_detail.jpg"/>
          <p:cNvSpPr/>
          <p:nvPr/>
        </p:nvSpPr>
        <p:spPr>
          <a:xfrm>
            <a:off x="4673498" y="1295705"/>
            <a:ext cx="6705295" cy="4267505"/>
          </a:xfrm>
          <a:prstGeom prst="roundRect">
            <a:avLst>
              <a:gd name="adj" fmla="val 2571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08_pet_detail.jpg" descr="หน้าโปรไฟล์น้องถั่วดำ แสดงราคา สายพันธุ์ เพศ วันเกิด อายุ และสถาน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397203"/>
            <a:ext cx="6502298" cy="40635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ตะกร้า &amp; ชำระเงิน · checkout.php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ชำระเงินได้ 4 วิธี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304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โอนธนาคาร (กดคัดลอกเลขบัญชี)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พร้อมเพย์: สร้าง QR ตามมาตรฐาน EMVCo พร้อมยอดเงิน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บัตรเครดิต/เดบิต (จำลอง)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เก็บเงินปลายทาง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ใช้ Transaction + SELECT … FOR UPDATE กันน้องตัวเดียวถูกขายซ้ำ</a:t>
            </a:r>
            <a:endParaRPr lang="th-TH" sz="1400" dirty="0"/>
          </a:p>
        </p:txBody>
      </p:sp>
      <p:sp>
        <p:nvSpPr>
          <p:cNvPr id="6" name="frame 11_checkout_promptpay.jpg"/>
          <p:cNvSpPr/>
          <p:nvPr/>
        </p:nvSpPr>
        <p:spPr>
          <a:xfrm>
            <a:off x="4673498" y="1295705"/>
            <a:ext cx="6705295" cy="4267505"/>
          </a:xfrm>
          <a:prstGeom prst="roundRect">
            <a:avLst>
              <a:gd name="adj" fmla="val 2571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11_checkout_promptpay.jpg" descr="หน้าชำระเงิน เลือกพร้อมเพย์ แสดง QR Code และสรุปยอด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397203"/>
            <a:ext cx="6502298" cy="40635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ติดตามการจัดส่ง · track.php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สถานะอัปเดตเองทุก 5 วินาที</a:t>
            </a:r>
            <a:endParaRPr lang="th-TH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540203"/>
          <a:ext cx="3556102" cy="914400"/>
        </p:xfrm>
        <a:graphic>
          <a:graphicData uri="http://schemas.openxmlformats.org/drawingml/2006/table">
            <a:tbl>
              <a:tblPr/>
              <a:tblGrid>
                <a:gridCol w="1079906"/>
                <a:gridCol w="2476195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หลังชำระ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สถานะ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0 วินาที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ชำระเงินเรียบร้อย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5 วินาที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กำลังจัดส่ง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10 วินาที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พนักงานกำลังพาน้องไปส่ง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15 วินาที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น้องถึงที่หมายแล้ว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ลูกค้ากด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รับน้องเรียบร้อยแล้ว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4826203"/>
            <a:ext cx="35561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หน้าเว็บเรียก track_api.php (JSON) ทุก 5 วินาที โดยไม่ต้องรีเฟรช</a:t>
            </a:r>
            <a:endParaRPr lang="th-TH" sz="1300" dirty="0"/>
          </a:p>
        </p:txBody>
      </p:sp>
      <p:sp>
        <p:nvSpPr>
          <p:cNvPr id="7" name="frame 15_track_arrived.jpg"/>
          <p:cNvSpPr/>
          <p:nvPr/>
        </p:nvSpPr>
        <p:spPr>
          <a:xfrm>
            <a:off x="4673498" y="1073506"/>
            <a:ext cx="6705295" cy="4718304"/>
          </a:xfrm>
          <a:prstGeom prst="roundRect">
            <a:avLst>
              <a:gd name="adj" fmla="val 2326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8" name="15_track_arrived.jpg" descr="หน้าติดตามคำสั่งซื้อ ไทม์ไลน์ 5 ขั้น และกล่องยืนยันรับน้องเมื่อน้องถึงที่หมาย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175004"/>
            <a:ext cx="6502298" cy="45153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แชท · chat.php / chat_api.php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ลูกค้าคุยกับร้านได้แบบเรียลไทม์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587398"/>
            <a:ext cx="10566806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โหลดข้อความใหม่ทุก 3 วินาที · แนบชื่อน้องที่สอบถาม · สถานะ “อ่านแล้ว” · เสียงและตัวเลขแจ้งเตือน</a:t>
            </a:r>
            <a:endParaRPr lang="th-TH" sz="1300" dirty="0"/>
          </a:p>
        </p:txBody>
      </p:sp>
      <p:sp>
        <p:nvSpPr>
          <p:cNvPr id="6" name="frame 18_chat_customer.jpg"/>
          <p:cNvSpPr/>
          <p:nvPr/>
        </p:nvSpPr>
        <p:spPr>
          <a:xfrm>
            <a:off x="812902" y="2031797"/>
            <a:ext cx="5181905" cy="3295498"/>
          </a:xfrm>
          <a:prstGeom prst="roundRect">
            <a:avLst>
              <a:gd name="adj" fmla="val 3330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18_chat_customer.jpg" descr="หน้าแชทฝั่งลูกค้า แสดงข้อความถามเรื่องวัคซีนและคำตอบจากร้าน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8797" y="2108606"/>
            <a:ext cx="5029200" cy="3143707"/>
          </a:xfrm>
          <a:prstGeom prst="rect">
            <a:avLst/>
          </a:prstGeom>
        </p:spPr>
      </p:pic>
      <p:sp>
        <p:nvSpPr>
          <p:cNvPr id="8" name="frame 26_chat_admin.jpg"/>
          <p:cNvSpPr/>
          <p:nvPr/>
        </p:nvSpPr>
        <p:spPr>
          <a:xfrm>
            <a:off x="6197803" y="2031797"/>
            <a:ext cx="5181905" cy="3295498"/>
          </a:xfrm>
          <a:prstGeom prst="roundRect">
            <a:avLst>
              <a:gd name="adj" fmla="val 3330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9" name="26_chat_admin.jpg" descr="หน้าแชทฝั่งแอดมิน แสดงรายชื่อห้องแชทของลูกค้าทางซ้ายและข้อความทางขวา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3698" y="2108606"/>
            <a:ext cx="5029200" cy="31437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12902" y="5460797"/>
            <a:ext cx="51819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ฝั่งลูกค้า: หนึ่งห้องแชทกับทีมงาน</a:t>
            </a:r>
            <a:endParaRPr lang="th-TH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197803" y="5460797"/>
            <a:ext cx="51819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ฝั่งแอดมิน: รายชื่อห้อง + จำนวนข้อความยังไม่อ่าน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สาธิตฝั่งผู้ดูแลระบบ · admin.php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แดชบอร์ดแอดมิน เห็นภาพรวมในหน้าเดียว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304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การ์ดสรุป: จำนวนน้อง คำสั่งซื้อ ยอดขายรวม จำนวนลูกค้า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ตารางน้องทุกตัว พร้อมสถานะและจำนวนสื่ออัปเดต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ปุ่มแก้ไข / ลบ ทุกแถว</a:t>
            </a:r>
            <a:endParaRPr lang="th-TH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th-TH" altLang="en-US" sz="1400" dirty="0">
                <a:solidFill>
                  <a:schemeClr val="tx2"/>
                </a:solidFill>
              </a:rPr>
              <a:t>ปุ่ม “บันทึกรูปตัวอย่างลงเครื่อง” ใช้งานออฟไลน์ได้</a:t>
            </a:r>
            <a:endParaRPr lang="th-TH" sz="1400" dirty="0"/>
          </a:p>
        </p:txBody>
      </p:sp>
      <p:sp>
        <p:nvSpPr>
          <p:cNvPr id="6" name="frame 20_admin_dashboard.jpg"/>
          <p:cNvSpPr/>
          <p:nvPr/>
        </p:nvSpPr>
        <p:spPr>
          <a:xfrm>
            <a:off x="4673498" y="1295705"/>
            <a:ext cx="6705295" cy="4267505"/>
          </a:xfrm>
          <a:prstGeom prst="roundRect">
            <a:avLst>
              <a:gd name="adj" fmla="val 2571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7" name="20_admin_dashboard.jpg" descr="แดชบอร์ดแอดมิน แสดงน้องทั้งหมด 30 ตัว คำสั่งซื้อ 13 รายการ ยอดขายรวม 204,650 บาท ลูกค้า 5 คน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4997" y="1397203"/>
            <a:ext cx="6502298" cy="40635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จัดการข้อมูลน้อง (CRUD)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เพิ่ม · แก้ไข · ลบ พร้อมอัปเดตรูปและวิดีโอ</a:t>
            </a:r>
            <a:endParaRPr lang="th-TH" sz="2800" dirty="0"/>
          </a:p>
        </p:txBody>
      </p:sp>
      <p:sp>
        <p:nvSpPr>
          <p:cNvPr id="5" name="frame 21_pet_add.jpg"/>
          <p:cNvSpPr/>
          <p:nvPr/>
        </p:nvSpPr>
        <p:spPr>
          <a:xfrm>
            <a:off x="812902" y="1841602"/>
            <a:ext cx="3403397" cy="2178101"/>
          </a:xfrm>
          <a:prstGeom prst="roundRect">
            <a:avLst>
              <a:gd name="adj" fmla="val 5038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6" name="21_pet_add.jpg" descr="ฟอร์มเพิ่มข้อมูลน้องใหม่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5995" y="1904695"/>
            <a:ext cx="3276295" cy="205099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2902" y="4127602"/>
            <a:ext cx="3403397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เพิ่มน้อง · pet_add.php</a:t>
            </a:r>
            <a:endParaRPr lang="th-TH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12902" y="4496105"/>
            <a:ext cx="34033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กรอกชื่อ ประเภท เพศ วันเกิด ราคา รายละเอียด แนบรูปหลักและวิดีโอแรก</a:t>
            </a:r>
            <a:endParaRPr lang="th-TH" sz="1300" dirty="0"/>
          </a:p>
        </p:txBody>
      </p:sp>
      <p:sp>
        <p:nvSpPr>
          <p:cNvPr id="9" name="frame 22_pet_edit.jpg"/>
          <p:cNvSpPr/>
          <p:nvPr/>
        </p:nvSpPr>
        <p:spPr>
          <a:xfrm>
            <a:off x="4394606" y="1841602"/>
            <a:ext cx="3403397" cy="2178101"/>
          </a:xfrm>
          <a:prstGeom prst="roundRect">
            <a:avLst>
              <a:gd name="adj" fmla="val 5038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10" name="22_pet_edit.jpg" descr="หน้าแก้ไขข้อมูลน้องถั่วดำ พร้อมช่องอัปโหลดรูปหรือวิดีโอตัวจริง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7700" y="1904695"/>
            <a:ext cx="3276295" cy="205099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94606" y="4127602"/>
            <a:ext cx="3403397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แก้ไข · pet_edit.php</a:t>
            </a:r>
            <a:endParaRPr lang="th-TH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394606" y="4496105"/>
            <a:ext cx="34033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แก้ข้อมูล เปลี่ยนรูปหลัก เปลี่ยนสถานะ และอัปโหลดรูป/วิดีโอใหม่พร้อมคำอธิบาย</a:t>
            </a:r>
            <a:endParaRPr lang="th-TH" sz="1300" dirty="0"/>
          </a:p>
        </p:txBody>
      </p:sp>
      <p:sp>
        <p:nvSpPr>
          <p:cNvPr id="13" name="frame 24_pet_delete_confirm.jpg"/>
          <p:cNvSpPr/>
          <p:nvPr/>
        </p:nvSpPr>
        <p:spPr>
          <a:xfrm>
            <a:off x="7975397" y="1841602"/>
            <a:ext cx="3403397" cy="2178101"/>
          </a:xfrm>
          <a:prstGeom prst="roundRect">
            <a:avLst>
              <a:gd name="adj" fmla="val 5038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14" name="24_pet_delete_confirm.jpg" descr="หน้ายืนยันการลบน้องขนมปัง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39405" y="1904695"/>
            <a:ext cx="3276295" cy="205099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75397" y="4127602"/>
            <a:ext cx="3403397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ลบ · pet_delete.php</a:t>
            </a:r>
            <a:endParaRPr lang="th-TH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975397" y="4496105"/>
            <a:ext cx="34033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ยืนยันก่อนลบ ลบไฟล์สื่อทั้งหมด และห้ามลบน้องที่มีประวัติการขาย</a:t>
            </a:r>
            <a:endParaRPr lang="th-TH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952805"/>
            <a:ext cx="3556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รายงาน · reports.php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1244498"/>
            <a:ext cx="3556102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4 รายงาน เลือกช่วงวันที่และพิมพ์ได้</a:t>
            </a:r>
            <a:endParaRPr lang="th-TH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667305"/>
            <a:ext cx="3556102" cy="1651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th-TH" altLang="en-US" sz="1400" dirty="0">
                <a:solidFill>
                  <a:schemeClr val="tx2"/>
                </a:solidFill>
              </a:rPr>
              <a:t>ยอดขายแยกตามประเภทสัตว์</a:t>
            </a:r>
            <a:endParaRPr lang="th-TH" sz="14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th-TH" altLang="en-US" sz="1400" dirty="0">
                <a:solidFill>
                  <a:schemeClr val="tx2"/>
                </a:solidFill>
              </a:rPr>
              <a:t>ยอดขายรายเดือน</a:t>
            </a:r>
            <a:endParaRPr lang="th-TH" sz="14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th-TH" altLang="en-US" sz="1400" dirty="0">
                <a:solidFill>
                  <a:schemeClr val="tx2"/>
                </a:solidFill>
              </a:rPr>
              <a:t>ลูกค้ายอดซื้อสูงสุด Top 10</a:t>
            </a:r>
            <a:endParaRPr lang="th-TH" sz="14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th-TH" altLang="en-US" sz="1400" dirty="0">
                <a:solidFill>
                  <a:schemeClr val="tx2"/>
                </a:solidFill>
              </a:rPr>
              <a:t>สถานะสัตว์คงเหลือแยกประเภท</a:t>
            </a:r>
            <a:endParaRPr lang="th-TH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4444898"/>
            <a:ext cx="35561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2"/>
                </a:solidFill>
              </a:rPr>
              <a:t>ใช้ GROUP BY, JOIN, SUM, COUNT, AVG และแถบกราฟแสดงสัดส่วน</a:t>
            </a:r>
            <a:endParaRPr lang="th-TH" sz="1300" dirty="0"/>
          </a:p>
        </p:txBody>
      </p:sp>
      <p:sp>
        <p:nvSpPr>
          <p:cNvPr id="7" name="frame 27_reports_top.jpg"/>
          <p:cNvSpPr/>
          <p:nvPr/>
        </p:nvSpPr>
        <p:spPr>
          <a:xfrm>
            <a:off x="4673498" y="1110996"/>
            <a:ext cx="3301898" cy="2102206"/>
          </a:xfrm>
          <a:prstGeom prst="roundRect">
            <a:avLst>
              <a:gd name="adj" fmla="val 5220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8" name="27_reports_top.jpg" descr="รายงานที่ 1 ยอดขายแยกตามประเภทสัตว์เลี้ยง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4705" y="1162202"/>
            <a:ext cx="3200400" cy="2000707"/>
          </a:xfrm>
          <a:prstGeom prst="rect">
            <a:avLst/>
          </a:prstGeom>
        </p:spPr>
      </p:pic>
      <p:sp>
        <p:nvSpPr>
          <p:cNvPr id="9" name="frame 29_report_month.jpg"/>
          <p:cNvSpPr/>
          <p:nvPr/>
        </p:nvSpPr>
        <p:spPr>
          <a:xfrm>
            <a:off x="8102498" y="1110996"/>
            <a:ext cx="3301898" cy="2102206"/>
          </a:xfrm>
          <a:prstGeom prst="roundRect">
            <a:avLst>
              <a:gd name="adj" fmla="val 5220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10" name="29_report_month.jpg" descr="รายงานที่ 2 ยอดขายรายเดือน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3705" y="1162202"/>
            <a:ext cx="3200400" cy="2000707"/>
          </a:xfrm>
          <a:prstGeom prst="rect">
            <a:avLst/>
          </a:prstGeom>
        </p:spPr>
      </p:pic>
      <p:sp>
        <p:nvSpPr>
          <p:cNvPr id="11" name="frame 31_report_cust.jpg"/>
          <p:cNvSpPr/>
          <p:nvPr/>
        </p:nvSpPr>
        <p:spPr>
          <a:xfrm>
            <a:off x="4673498" y="3429000"/>
            <a:ext cx="3301898" cy="2102206"/>
          </a:xfrm>
          <a:prstGeom prst="roundRect">
            <a:avLst>
              <a:gd name="adj" fmla="val 5220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12" name="31_report_cust.jpg" descr="รายงานที่ 3 ลูกค้าที่มียอดซื้อสูงสุด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24705" y="3480206"/>
            <a:ext cx="3200400" cy="2000707"/>
          </a:xfrm>
          <a:prstGeom prst="rect">
            <a:avLst/>
          </a:prstGeom>
        </p:spPr>
      </p:pic>
      <p:sp>
        <p:nvSpPr>
          <p:cNvPr id="13" name="frame 32_report_stock.jpg"/>
          <p:cNvSpPr/>
          <p:nvPr/>
        </p:nvSpPr>
        <p:spPr>
          <a:xfrm>
            <a:off x="8102498" y="3429000"/>
            <a:ext cx="3301898" cy="2102206"/>
          </a:xfrm>
          <a:prstGeom prst="roundRect">
            <a:avLst>
              <a:gd name="adj" fmla="val 5220"/>
            </a:avLst>
          </a:prstGeom>
          <a:solidFill>
            <a:srgbClr val="FFFDFB"/>
          </a:solidFill>
          <a:ln w="9525">
            <a:solidFill>
              <a:srgbClr val="DCD3F5"/>
            </a:solidFill>
            <a:prstDash val="solid"/>
          </a:ln>
          <a:effectLst>
            <a:outerShdw sx="100000" sy="100000" kx="0" ky="0" algn="bl" rotWithShape="0" blurRad="177800" dist="50800" dir="5400000">
              <a:srgbClr val="5A321E">
                <a:alpha val="14000"/>
              </a:srgbClr>
            </a:outerShdw>
          </a:effectLst>
        </p:spPr>
      </p:sp>
      <p:pic>
        <p:nvPicPr>
          <p:cNvPr id="14" name="32_report_stock.jpg" descr="รายงานที่ 4 สถานะสัตว์เลี้ยงคงเหลือแยกตามประเภท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53705" y="3480206"/>
            <a:ext cx="3200400" cy="20007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4"/>
                </a:solidFill>
              </a:rPr>
              <a:t>ความปลอดภัยของระบบ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bg1"/>
                </a:solidFill>
              </a:rPr>
              <a:t>ป้องกันช่องโหว่พื้นฐานของเว็บไว้ครบ</a:t>
            </a:r>
            <a:endParaRPr lang="th-TH" sz="2800" dirty="0"/>
          </a:p>
        </p:txBody>
      </p:sp>
      <p:sp>
        <p:nvSpPr>
          <p:cNvPr id="5" name="Shape 2"/>
          <p:cNvSpPr/>
          <p:nvPr/>
        </p:nvSpPr>
        <p:spPr>
          <a:xfrm>
            <a:off x="812902" y="1841602"/>
            <a:ext cx="3454603" cy="1904695"/>
          </a:xfrm>
          <a:prstGeom prst="roundRect">
            <a:avLst>
              <a:gd name="adj" fmla="val 6721"/>
            </a:avLst>
          </a:prstGeom>
          <a:solidFill>
            <a:srgbClr val="3A333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" y="2044598"/>
            <a:ext cx="279806" cy="2798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15898" y="2451506"/>
            <a:ext cx="3047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SQL Injection</a:t>
            </a:r>
            <a:endParaRPr lang="th-TH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015898" y="2831897"/>
            <a:ext cx="3047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rgbClr val="D9CDC6"/>
                </a:solidFill>
              </a:rPr>
              <a:t>ทุกคำสั่งใช้ PDO Prepared Statement</a:t>
            </a:r>
            <a:endParaRPr lang="th-TH" sz="1300" dirty="0"/>
          </a:p>
        </p:txBody>
      </p:sp>
      <p:sp>
        <p:nvSpPr>
          <p:cNvPr id="9" name="Shape 5"/>
          <p:cNvSpPr/>
          <p:nvPr/>
        </p:nvSpPr>
        <p:spPr>
          <a:xfrm>
            <a:off x="4369003" y="1841602"/>
            <a:ext cx="3454603" cy="1904695"/>
          </a:xfrm>
          <a:prstGeom prst="roundRect">
            <a:avLst>
              <a:gd name="adj" fmla="val 6721"/>
            </a:avLst>
          </a:prstGeom>
          <a:solidFill>
            <a:srgbClr val="3A333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44598"/>
            <a:ext cx="279806" cy="27980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2451506"/>
            <a:ext cx="3047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XSS</a:t>
            </a:r>
            <a:endParaRPr lang="th-TH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572000" y="2831897"/>
            <a:ext cx="3047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rgbClr val="D9CDC6"/>
                </a:solidFill>
              </a:rPr>
              <a:t>ข้อความทุกจุดผ่าน htmlspecialchars ก่อนแสดงผล</a:t>
            </a:r>
            <a:endParaRPr lang="th-TH" sz="1300" dirty="0"/>
          </a:p>
        </p:txBody>
      </p:sp>
      <p:sp>
        <p:nvSpPr>
          <p:cNvPr id="13" name="Shape 8"/>
          <p:cNvSpPr/>
          <p:nvPr/>
        </p:nvSpPr>
        <p:spPr>
          <a:xfrm>
            <a:off x="7925105" y="1841602"/>
            <a:ext cx="3454603" cy="1904695"/>
          </a:xfrm>
          <a:prstGeom prst="roundRect">
            <a:avLst>
              <a:gd name="adj" fmla="val 6721"/>
            </a:avLst>
          </a:prstGeom>
          <a:solidFill>
            <a:srgbClr val="3A333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02" y="2044598"/>
            <a:ext cx="279806" cy="27980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128102" y="2451506"/>
            <a:ext cx="3047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CSRF</a:t>
            </a:r>
            <a:endParaRPr lang="th-TH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128102" y="2831897"/>
            <a:ext cx="3047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rgbClr val="D9CDC6"/>
                </a:solidFill>
              </a:rPr>
              <a:t>ฟอร์ม POST ทุกฟอร์มมี token สุ่ม ตรวจด้วย hash_equals</a:t>
            </a:r>
            <a:endParaRPr lang="th-TH" sz="1300" dirty="0"/>
          </a:p>
        </p:txBody>
      </p:sp>
      <p:sp>
        <p:nvSpPr>
          <p:cNvPr id="17" name="Shape 11"/>
          <p:cNvSpPr/>
          <p:nvPr/>
        </p:nvSpPr>
        <p:spPr>
          <a:xfrm>
            <a:off x="812902" y="3899002"/>
            <a:ext cx="3454603" cy="1904695"/>
          </a:xfrm>
          <a:prstGeom prst="roundRect">
            <a:avLst>
              <a:gd name="adj" fmla="val 6721"/>
            </a:avLst>
          </a:prstGeom>
          <a:solidFill>
            <a:srgbClr val="3A333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" y="4101998"/>
            <a:ext cx="279806" cy="27980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15898" y="4508906"/>
            <a:ext cx="3047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รหัสผ่าน &amp; Session</a:t>
            </a:r>
            <a:endParaRPr lang="th-TH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015898" y="4889297"/>
            <a:ext cx="3047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rgbClr val="D9CDC6"/>
                </a:solidFill>
              </a:rPr>
              <a:t>bcrypt hash · เปลี่ยน session id หลังเข้าสู่ระบบ</a:t>
            </a:r>
            <a:endParaRPr lang="th-TH" sz="1300" dirty="0"/>
          </a:p>
        </p:txBody>
      </p:sp>
      <p:sp>
        <p:nvSpPr>
          <p:cNvPr id="21" name="Shape 14"/>
          <p:cNvSpPr/>
          <p:nvPr/>
        </p:nvSpPr>
        <p:spPr>
          <a:xfrm>
            <a:off x="4369003" y="3899002"/>
            <a:ext cx="3454603" cy="1904695"/>
          </a:xfrm>
          <a:prstGeom prst="roundRect">
            <a:avLst>
              <a:gd name="adj" fmla="val 6721"/>
            </a:avLst>
          </a:prstGeom>
          <a:solidFill>
            <a:srgbClr val="3A333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01998"/>
            <a:ext cx="279806" cy="27980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572000" y="4508906"/>
            <a:ext cx="3047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อัปโหลดไฟล์</a:t>
            </a:r>
            <a:endParaRPr lang="th-TH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4572000" y="4889297"/>
            <a:ext cx="3047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rgbClr val="D9CDC6"/>
                </a:solidFill>
              </a:rPr>
              <a:t>ตรวจ MIME จริง สุ่มชื่อไฟล์ ห้าม .php และ .htaccess กันสคริปต์</a:t>
            </a:r>
            <a:endParaRPr lang="th-TH" sz="1300" dirty="0"/>
          </a:p>
        </p:txBody>
      </p:sp>
      <p:sp>
        <p:nvSpPr>
          <p:cNvPr id="25" name="Shape 17"/>
          <p:cNvSpPr/>
          <p:nvPr/>
        </p:nvSpPr>
        <p:spPr>
          <a:xfrm>
            <a:off x="7925105" y="3899002"/>
            <a:ext cx="3454603" cy="1904695"/>
          </a:xfrm>
          <a:prstGeom prst="roundRect">
            <a:avLst>
              <a:gd name="adj" fmla="val 6721"/>
            </a:avLst>
          </a:prstGeom>
          <a:solidFill>
            <a:srgbClr val="3A333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102" y="4101998"/>
            <a:ext cx="279806" cy="27980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128102" y="4508906"/>
            <a:ext cx="3047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สิทธิ์ &amp; ข้อมูลถูกต้อง</a:t>
            </a:r>
            <a:endParaRPr lang="th-TH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8128102" y="4889297"/>
            <a:ext cx="3047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th-TH" altLang="en-US" sz="1300" dirty="0">
                <a:solidFill>
                  <a:srgbClr val="D9CDC6"/>
                </a:solidFill>
              </a:rPr>
              <a:t>ตรวจ role ทุกหน้า · Transaction กันขายซ้ำ</a:t>
            </a:r>
            <a:endParaRPr lang="th-TH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B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สรุปความครบถ้วนของงาน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ทุกฟังก์ชันที่กำหนด ทำงานได้จริง</a:t>
            </a:r>
            <a:endParaRPr lang="th-TH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777594"/>
          <a:ext cx="10566806" cy="914400"/>
        </p:xfrm>
        <a:graphic>
          <a:graphicData uri="http://schemas.openxmlformats.org/drawingml/2006/table">
            <a:tbl>
              <a:tblPr/>
              <a:tblGrid>
                <a:gridCol w="4063594"/>
                <a:gridCol w="4190695"/>
                <a:gridCol w="2311603"/>
              </a:tblGrid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ฟังก์ชัน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ไฟล์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231F1E"/>
                          </a:solidFill>
                        </a:rPr>
                        <a:t>สถานะ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5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Login / สมัครสมาชิก (18+)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login.php · register.php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เพิ่ม / แก้ไข / ลบ ข้อมูล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pet_add · pet_edit · pet_delete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ค้นหาข้อมูล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search.php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โปรไฟล์ + รูป/วิดีโออัปเดต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pet.php · pet_media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ตะกร้า / ชำระเงิน 4 วิธี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cart.php · checkout.php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ติดตามจัดส่ง (ทุก 5 วินาที)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track.php · track_api.php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แชทลูกค้า – แอดมิน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chat.php · chat_api.php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รายงาน 4 รายงาน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reports.php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ER Diagram + Data Dictionary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docs/ER_and_Mapping.md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231F1E"/>
                          </a:solidFill>
                        </a:rPr>
                        <a:t>✔ เสร็จ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902" y="711403"/>
            <a:ext cx="10566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h-TH" altLang="en-US" sz="1300" b="1" dirty="0">
                <a:solidFill>
                  <a:schemeClr val="accent3"/>
                </a:solidFill>
              </a:rPr>
              <a:t>แนวทางพัฒนาต่อ</a:t>
            </a:r>
            <a:endParaRPr lang="th-TH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902" y="990295"/>
            <a:ext cx="10566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2800" b="1" dirty="0">
                <a:solidFill>
                  <a:schemeClr val="tx1"/>
                </a:solidFill>
              </a:rPr>
              <a:t>สิ่งที่จะทำต่อจากเวอร์ชันนี้</a:t>
            </a:r>
            <a:endParaRPr lang="th-TH" sz="2800" dirty="0"/>
          </a:p>
        </p:txBody>
      </p:sp>
      <p:sp>
        <p:nvSpPr>
          <p:cNvPr id="5" name="Shape 2"/>
          <p:cNvSpPr/>
          <p:nvPr/>
        </p:nvSpPr>
        <p:spPr>
          <a:xfrm>
            <a:off x="812902" y="1968703"/>
            <a:ext cx="5194706" cy="1460297"/>
          </a:xfrm>
          <a:prstGeom prst="roundRect">
            <a:avLst>
              <a:gd name="adj" fmla="val 8766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7105" y="2247595"/>
            <a:ext cx="457200" cy="457200"/>
          </a:xfrm>
          <a:prstGeom prst="ellipse">
            <a:avLst/>
          </a:prstGeom>
          <a:solidFill>
            <a:srgbClr val="FDEE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349094"/>
            <a:ext cx="254203" cy="2542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01698" y="2247595"/>
            <a:ext cx="40635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นำขึ้นออนไลน์จริง</a:t>
            </a:r>
            <a:endParaRPr lang="th-TH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701698" y="2667305"/>
            <a:ext cx="40635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2"/>
                </a:solidFill>
              </a:rPr>
              <a:t>Deploy บน Render หรือโฮสติ้ง PHP พร้อม HTTPS</a:t>
            </a:r>
            <a:endParaRPr lang="th-TH" sz="1600" dirty="0"/>
          </a:p>
        </p:txBody>
      </p:sp>
      <p:sp>
        <p:nvSpPr>
          <p:cNvPr id="10" name="Shape 6"/>
          <p:cNvSpPr/>
          <p:nvPr/>
        </p:nvSpPr>
        <p:spPr>
          <a:xfrm>
            <a:off x="6185002" y="1968703"/>
            <a:ext cx="5194706" cy="1460297"/>
          </a:xfrm>
          <a:prstGeom prst="roundRect">
            <a:avLst>
              <a:gd name="adj" fmla="val 8766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9205" y="2247595"/>
            <a:ext cx="457200" cy="457200"/>
          </a:xfrm>
          <a:prstGeom prst="ellipse">
            <a:avLst/>
          </a:prstGeom>
          <a:solidFill>
            <a:srgbClr val="FDEEE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03" y="2349094"/>
            <a:ext cx="254203" cy="2542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73798" y="2247595"/>
            <a:ext cx="40635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ชำระเงินจริง</a:t>
            </a:r>
            <a:endParaRPr lang="th-TH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073798" y="2667305"/>
            <a:ext cx="40635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2"/>
                </a:solidFill>
              </a:rPr>
              <a:t>เชื่อม Payment Gateway และตรวจสลิปอัตโนมัติ</a:t>
            </a:r>
            <a:endParaRPr lang="th-TH" sz="1600" dirty="0"/>
          </a:p>
        </p:txBody>
      </p:sp>
      <p:sp>
        <p:nvSpPr>
          <p:cNvPr id="15" name="Shape 10"/>
          <p:cNvSpPr/>
          <p:nvPr/>
        </p:nvSpPr>
        <p:spPr>
          <a:xfrm>
            <a:off x="812902" y="3606394"/>
            <a:ext cx="5194706" cy="1460297"/>
          </a:xfrm>
          <a:prstGeom prst="roundRect">
            <a:avLst>
              <a:gd name="adj" fmla="val 8766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67105" y="3886200"/>
            <a:ext cx="457200" cy="457200"/>
          </a:xfrm>
          <a:prstGeom prst="ellipse">
            <a:avLst/>
          </a:prstGeom>
          <a:solidFill>
            <a:srgbClr val="EFEB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" y="3987698"/>
            <a:ext cx="254203" cy="2542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01698" y="3886200"/>
            <a:ext cx="40635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ขนส่งจริง</a:t>
            </a:r>
            <a:endParaRPr lang="th-TH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701698" y="4304995"/>
            <a:ext cx="40635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2"/>
                </a:solidFill>
              </a:rPr>
              <a:t>ใช้เวลาจัดส่งจริงแทนการจำลอง 5/10/15 วินาที</a:t>
            </a:r>
            <a:endParaRPr lang="th-TH" sz="1600" dirty="0"/>
          </a:p>
        </p:txBody>
      </p:sp>
      <p:sp>
        <p:nvSpPr>
          <p:cNvPr id="20" name="Shape 14"/>
          <p:cNvSpPr/>
          <p:nvPr/>
        </p:nvSpPr>
        <p:spPr>
          <a:xfrm>
            <a:off x="6185002" y="3606394"/>
            <a:ext cx="5194706" cy="1460297"/>
          </a:xfrm>
          <a:prstGeom prst="roundRect">
            <a:avLst>
              <a:gd name="adj" fmla="val 8766"/>
            </a:avLst>
          </a:prstGeom>
          <a:solidFill>
            <a:srgbClr val="FFFDFB"/>
          </a:solidFill>
          <a:ln w="9525">
            <a:solidFill>
              <a:srgbClr val="EAD9C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39205" y="3886200"/>
            <a:ext cx="457200" cy="457200"/>
          </a:xfrm>
          <a:prstGeom prst="ellipse">
            <a:avLst/>
          </a:prstGeom>
          <a:solidFill>
            <a:srgbClr val="EFEB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703" y="3987698"/>
            <a:ext cx="254203" cy="25420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73798" y="3886200"/>
            <a:ext cx="40635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b="1" dirty="0">
                <a:solidFill>
                  <a:schemeClr val="tx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แชทแบบ WebSocket</a:t>
            </a:r>
            <a:endParaRPr lang="th-TH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7073798" y="4304995"/>
            <a:ext cx="40635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2"/>
                </a:solidFill>
              </a:rPr>
              <a:t>ลดการดึงข้อมูลซ้ำ และส่งแจ้งเตือนทางอีเมล/LINE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406" y="6349594"/>
            <a:ext cx="58430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7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902" y="1904695"/>
            <a:ext cx="5080406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accent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🐾 PawPaws</a:t>
            </a:r>
            <a:endParaRPr lang="th-TH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2349094"/>
            <a:ext cx="5715000" cy="101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56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ขอบคุณครับ</a:t>
            </a:r>
            <a:endParaRPr lang="th-TH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3556102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rgbClr val="D9CDC6"/>
                </a:solidFill>
              </a:rPr>
              <a:t>ถาม–ตอบ (Q&amp;A)</a:t>
            </a:r>
            <a:endParaRPr lang="th-TH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4063594"/>
            <a:ext cx="5080406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BFB3AD"/>
                </a:solidFill>
              </a:rPr>
              <a:t>โค้ดทั้งหมด: github.com/s0riy0/pawpaws</a:t>
            </a:r>
            <a:endParaRPr lang="th-TH" sz="1400" dirty="0"/>
          </a:p>
        </p:txBody>
      </p:sp>
      <p:sp>
        <p:nvSpPr>
          <p:cNvPr id="7" name="Shape 4"/>
          <p:cNvSpPr/>
          <p:nvPr/>
        </p:nvSpPr>
        <p:spPr>
          <a:xfrm>
            <a:off x="7315200" y="1904695"/>
            <a:ext cx="4063594" cy="3047695"/>
          </a:xfrm>
          <a:prstGeom prst="roundRect">
            <a:avLst>
              <a:gd name="adj" fmla="val 4200"/>
            </a:avLst>
          </a:prstGeom>
          <a:solidFill>
            <a:srgbClr val="3A333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95006" y="2158898"/>
            <a:ext cx="355610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บัญชีทดสอบ</a:t>
            </a:r>
            <a:endParaRPr lang="th-TH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5006" y="2667305"/>
          <a:ext cx="3504895" cy="914400"/>
        </p:xfrm>
        <a:graphic>
          <a:graphicData uri="http://schemas.openxmlformats.org/drawingml/2006/table">
            <a:tbl>
              <a:tblPr/>
              <a:tblGrid>
                <a:gridCol w="1015898"/>
                <a:gridCol w="1397203"/>
                <a:gridCol w="1091794"/>
              </a:tblGrid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F3EAE2"/>
                          </a:solidFill>
                        </a:rPr>
                        <a:t>บทบาท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F3EAE2"/>
                          </a:solidFill>
                        </a:rPr>
                        <a:t>ชื่อผู้ใช้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b="1" dirty="0">
                          <a:solidFill>
                            <a:srgbClr val="F3EAE2"/>
                          </a:solidFill>
                        </a:rPr>
                        <a:t>รหัสผ่าน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03D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F3EAE2"/>
                          </a:solidFill>
                        </a:rPr>
                        <a:t>แอดมิน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F3EAE2"/>
                          </a:solidFill>
                        </a:rPr>
                        <a:t>soriya-admin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F3EAE2"/>
                          </a:solidFill>
                        </a:rPr>
                        <a:t>admin123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1"/>
                    </a:solidFill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F3EAE2"/>
                          </a:solidFill>
                        </a:rPr>
                        <a:t>ลูกค้า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F3EAE2"/>
                          </a:solidFill>
                        </a:rPr>
                        <a:t>Nutchapol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altLang="en-US" sz="1300" dirty="0">
                          <a:solidFill>
                            <a:srgbClr val="F3EAE2"/>
                          </a:solidFill>
                        </a:rPr>
                        <a:t>123456</a:t>
                      </a:r>
                      <a:endParaRPr lang="th-TH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4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1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595006" y="4127602"/>
            <a:ext cx="3556102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rgbClr val="BFB3AD"/>
                </a:solidFill>
              </a:rPr>
              <a:t>เปิดที่ http://localhost/pawpaws</a:t>
            </a:r>
            <a:endParaRPr lang="th-TH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wPaws">
  <a:themeElements>
    <a:clrScheme name="PawPaws">
      <a:dk1>
        <a:srgbClr val="231F1E"/>
      </a:dk1>
      <a:lt1>
        <a:srgbClr val="FBF6F1"/>
      </a:lt1>
      <a:dk2>
        <a:srgbClr val="4A4240"/>
      </a:dk2>
      <a:lt2>
        <a:srgbClr val="F3EAE2"/>
      </a:lt2>
      <a:accent1>
        <a:srgbClr val="E8592A"/>
      </a:accent1>
      <a:accent2>
        <a:srgbClr val="6C4FD8"/>
      </a:accent2>
      <a:accent3>
        <a:srgbClr val="B5461B"/>
      </a:accent3>
      <a:accent4>
        <a:srgbClr val="FF8A5C"/>
      </a:accent4>
      <a:accent5>
        <a:srgbClr val="3A3331"/>
      </a:accent5>
      <a:accent6>
        <a:srgbClr val="8A7F7A"/>
      </a:accent6>
      <a:hlink>
        <a:srgbClr val="E8592A"/>
      </a:hlink>
      <a:folHlink>
        <a:srgbClr val="6C4FD8"/>
      </a:folHlink>
    </a:clrScheme>
    <a:fontScheme name="PawPaws">
      <a:majorFont>
        <a:latin typeface="Prompt"/>
        <a:ea typeface=""/>
        <a:cs typeface="Promp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Promp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Sarabun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Sarabun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PawPaws – ระบบ E-Commerce ขายสัตว์เลี้ยง</dc:title>
  <dc:subject>PptxGenJS Presentation</dc:subject>
  <dc:creator>[ชื่อ-นามสกุล]</dc:creator>
  <cp:lastModifiedBy>[ชื่อ-นามสกุล]</cp:lastModifiedBy>
  <cp:revision>1</cp:revision>
  <dcterms:created xsi:type="dcterms:W3CDTF">2026-10-25T16:15:03Z</dcterms:created>
  <dcterms:modified xsi:type="dcterms:W3CDTF">2026-10-25T16:15:03Z</dcterms:modified>
</cp:coreProperties>
</file>